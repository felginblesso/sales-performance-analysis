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3BA77-0730-4478-A5A7-7FCBE3628441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CAE44-5CE2-430A-9441-A50250E3E1E8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8707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3BA77-0730-4478-A5A7-7FCBE3628441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CAE44-5CE2-430A-9441-A50250E3E1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3495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3BA77-0730-4478-A5A7-7FCBE3628441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CAE44-5CE2-430A-9441-A50250E3E1E8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5187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3BA77-0730-4478-A5A7-7FCBE3628441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CAE44-5CE2-430A-9441-A50250E3E1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8502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3BA77-0730-4478-A5A7-7FCBE3628441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CAE44-5CE2-430A-9441-A50250E3E1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1237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3BA77-0730-4478-A5A7-7FCBE3628441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CAE44-5CE2-430A-9441-A50250E3E1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7874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3BA77-0730-4478-A5A7-7FCBE3628441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CAE44-5CE2-430A-9441-A50250E3E1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332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513BA77-0730-4478-A5A7-7FCBE3628441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48CAE44-5CE2-430A-9441-A50250E3E1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325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3BA77-0730-4478-A5A7-7FCBE3628441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CAE44-5CE2-430A-9441-A50250E3E1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7394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3BA77-0730-4478-A5A7-7FCBE3628441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CAE44-5CE2-430A-9441-A50250E3E1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1688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3BA77-0730-4478-A5A7-7FCBE3628441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CAE44-5CE2-430A-9441-A50250E3E1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0997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513BA77-0730-4478-A5A7-7FCBE3628441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48CAE44-5CE2-430A-9441-A50250E3E1E8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4744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09261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Global Electronics – Sales Performance Analysis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							                </a:t>
            </a:r>
            <a:r>
              <a:rPr lang="en-IN" sz="1200" b="1" dirty="0" smtClean="0">
                <a:solidFill>
                  <a:schemeClr val="accent1">
                    <a:lumMod val="75000"/>
                  </a:schemeClr>
                </a:solidFill>
              </a:rPr>
              <a:t>Prepared by</a:t>
            </a:r>
            <a:endParaRPr lang="en-IN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IN" b="1" dirty="0"/>
              <a:t> </a:t>
            </a:r>
            <a:r>
              <a:rPr lang="en-IN" b="1" dirty="0" smtClean="0"/>
              <a:t> 							       </a:t>
            </a:r>
            <a:r>
              <a:rPr lang="en-IN" b="1" dirty="0" smtClean="0">
                <a:solidFill>
                  <a:schemeClr val="accent1">
                    <a:lumMod val="75000"/>
                  </a:schemeClr>
                </a:solidFill>
              </a:rPr>
              <a:t>Goodwin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Blesso 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3195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18468" y="362588"/>
            <a:ext cx="11137824" cy="58939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 smtClean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Overview</a:t>
            </a:r>
          </a:p>
          <a:p>
            <a:endParaRPr lang="en-IN" sz="1000" b="1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b="1" dirty="0" smtClean="0">
                <a:solidFill>
                  <a:schemeClr val="accent1">
                    <a:lumMod val="75000"/>
                  </a:schemeClr>
                </a:solidFill>
              </a:rPr>
              <a:t>Problem Statement: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Analyze historical sales transaction data to understand sales performance, profitability, customer behavior, product performance, and payment trends, and build an interactive Excel dashboard to support data-driven business decisions.</a:t>
            </a:r>
          </a:p>
          <a:p>
            <a:pPr>
              <a:lnSpc>
                <a:spcPct val="150000"/>
              </a:lnSpc>
            </a:pPr>
            <a:endParaRPr lang="en-US" sz="6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Objectives: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Analyze sales performance across products, departments, cities, and time periods.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Evaluate profitability using revenue, expenses, profit, and profit margin.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Understand customer behavior through ratings, feedback, and purchasing patterns.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Build an interactive Excel dashboard to visualize KPIs and support data-driven decisions.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6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IN" b="1" dirty="0" smtClean="0">
                <a:solidFill>
                  <a:schemeClr val="accent1">
                    <a:lumMod val="75000"/>
                  </a:schemeClr>
                </a:solidFill>
              </a:rPr>
              <a:t>Dataset: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 smtClean="0">
                <a:solidFill>
                  <a:schemeClr val="accent1">
                    <a:lumMod val="75000"/>
                  </a:schemeClr>
                </a:solidFill>
              </a:rPr>
              <a:t>Data Source: </a:t>
            </a:r>
            <a:r>
              <a:rPr lang="en-IN" sz="1600" dirty="0" smtClean="0">
                <a:solidFill>
                  <a:schemeClr val="accent1">
                    <a:lumMod val="75000"/>
                  </a:schemeClr>
                </a:solidFill>
              </a:rPr>
              <a:t>Historical sales data from </a:t>
            </a:r>
            <a:r>
              <a:rPr lang="en-IN" sz="1600" b="1" dirty="0" smtClean="0">
                <a:solidFill>
                  <a:schemeClr val="accent1">
                    <a:lumMod val="75000"/>
                  </a:schemeClr>
                </a:solidFill>
              </a:rPr>
              <a:t>Global Electronics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 smtClean="0">
                <a:solidFill>
                  <a:schemeClr val="accent1">
                    <a:lumMod val="75000"/>
                  </a:schemeClr>
                </a:solidFill>
              </a:rPr>
              <a:t>Features: </a:t>
            </a:r>
            <a:r>
              <a:rPr lang="en-IN" sz="1600" dirty="0" err="1" smtClean="0">
                <a:solidFill>
                  <a:schemeClr val="accent1">
                    <a:lumMod val="75000"/>
                  </a:schemeClr>
                </a:solidFill>
              </a:rPr>
              <a:t>Transaction_ID</a:t>
            </a:r>
            <a:r>
              <a:rPr lang="en-IN" sz="1600" dirty="0" smtClean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n-IN" sz="1600" dirty="0" err="1" smtClean="0">
                <a:solidFill>
                  <a:schemeClr val="accent1">
                    <a:lumMod val="75000"/>
                  </a:schemeClr>
                </a:solidFill>
              </a:rPr>
              <a:t>Customer_Name</a:t>
            </a:r>
            <a:r>
              <a:rPr lang="en-IN" sz="1600" dirty="0" smtClean="0">
                <a:solidFill>
                  <a:schemeClr val="accent1">
                    <a:lumMod val="75000"/>
                  </a:schemeClr>
                </a:solidFill>
              </a:rPr>
              <a:t>, City, Department, Product, Quantity, </a:t>
            </a:r>
            <a:r>
              <a:rPr lang="en-IN" sz="1600" dirty="0" err="1" smtClean="0">
                <a:solidFill>
                  <a:schemeClr val="accent1">
                    <a:lumMod val="75000"/>
                  </a:schemeClr>
                </a:solidFill>
              </a:rPr>
              <a:t>Unit_Price</a:t>
            </a:r>
            <a:r>
              <a:rPr lang="en-IN" sz="1600" dirty="0" smtClean="0">
                <a:solidFill>
                  <a:schemeClr val="accent1">
                    <a:lumMod val="75000"/>
                  </a:schemeClr>
                </a:solidFill>
              </a:rPr>
              <a:t>, Revenue, Expense, Profit, </a:t>
            </a:r>
            <a:r>
              <a:rPr lang="en-IN" sz="1600" dirty="0" err="1" smtClean="0">
                <a:solidFill>
                  <a:schemeClr val="accent1">
                    <a:lumMod val="75000"/>
                  </a:schemeClr>
                </a:solidFill>
              </a:rPr>
              <a:t>Customer_Feedback</a:t>
            </a:r>
            <a:r>
              <a:rPr lang="en-IN" sz="1600" dirty="0" smtClean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n-IN" sz="1600" dirty="0" err="1" smtClean="0">
                <a:solidFill>
                  <a:schemeClr val="accent1">
                    <a:lumMod val="75000"/>
                  </a:schemeClr>
                </a:solidFill>
              </a:rPr>
              <a:t>Employee_Performance_Score</a:t>
            </a:r>
            <a:r>
              <a:rPr lang="en-IN" sz="1600" dirty="0" smtClean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n-IN" sz="1600" dirty="0" err="1" smtClean="0">
                <a:solidFill>
                  <a:schemeClr val="accent1">
                    <a:lumMod val="75000"/>
                  </a:schemeClr>
                </a:solidFill>
              </a:rPr>
              <a:t>Payment_Method</a:t>
            </a:r>
            <a:r>
              <a:rPr lang="en-IN" sz="1600" dirty="0" smtClean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n-IN" sz="1600" dirty="0" err="1" smtClean="0">
                <a:solidFill>
                  <a:schemeClr val="accent1">
                    <a:lumMod val="75000"/>
                  </a:schemeClr>
                </a:solidFill>
              </a:rPr>
              <a:t>Purchase_Date</a:t>
            </a:r>
            <a:endParaRPr lang="en-IN" sz="16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 smtClean="0">
                <a:solidFill>
                  <a:schemeClr val="accent1">
                    <a:lumMod val="75000"/>
                  </a:schemeClr>
                </a:solidFill>
              </a:rPr>
              <a:t>Data Size: </a:t>
            </a:r>
            <a:r>
              <a:rPr lang="en-IN" sz="1600" dirty="0" smtClean="0">
                <a:solidFill>
                  <a:schemeClr val="accent1">
                    <a:lumMod val="75000"/>
                  </a:schemeClr>
                </a:solidFill>
              </a:rPr>
              <a:t>8000 * 14 records</a:t>
            </a:r>
            <a:endParaRPr lang="en-IN" sz="1600" b="1" dirty="0" smtClean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4454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2358" y="445716"/>
            <a:ext cx="10934623" cy="56630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 smtClean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Insights</a:t>
            </a:r>
          </a:p>
          <a:p>
            <a:endParaRPr lang="en-IN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IN" b="1" dirty="0" smtClean="0">
                <a:solidFill>
                  <a:schemeClr val="accent1">
                    <a:lumMod val="75000"/>
                  </a:schemeClr>
                </a:solidFill>
              </a:rPr>
              <a:t>Overall Business Performance: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8,000</a:t>
            </a:r>
            <a:r>
              <a:rPr lang="en-US" sz="1600" b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transactions generated ₹176.46 Cr in revenue and ₹61.58 Cr in profit.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The business achieved a 34.90% overall profit margin, indicating strong profitability.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43,919 units were sold with total expenses of ₹114.88 Cr.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Sales Trend: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Revenue remained relatively stable throughout 2024 and early 2025.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A significant decline in revenue was observed in May 2025, requiring further investigation.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The decline may indicate incomplete transaction data, supply constraints, seasonality, or operational issues.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Product Performance: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Laptops and Headphones are the leading revenue-generating products and key contributors to overall sales.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Tablets combine strong sales volume with relatively controlled expenses, making them an attractive product for growth.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Mobiles show comparatively low revenue and sales volume, indicating an opportunity to review their pricing, product mix, or sales strategy.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Department Performance: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IT is the strongest revenue-generating department and is the primary contributor to overall sales.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HR and Marketing contribute comparatively lower revenue and may require performance evaluation.</a:t>
            </a:r>
            <a:endParaRPr lang="en-IN" sz="1600" dirty="0" smtClean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2044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7014" y="621207"/>
            <a:ext cx="10805314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 smtClean="0">
                <a:solidFill>
                  <a:schemeClr val="accent1">
                    <a:lumMod val="75000"/>
                  </a:schemeClr>
                </a:solidFill>
              </a:rPr>
              <a:t>Customer Satisfaction: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51% of customer ratings fall into Poor or Average categories, highlighting a significant customer experience concern.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Only 24% of customers rated their experience as Excellent.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Further analysis by product, city, and department can help identify the key drivers of dissatisfaction.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Recommendations: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Increase inventory and promotional focus on Laptops, Headphones, and Tablets, which are key revenue contributors.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Use cross-selling and bundle offers such as laptops + headphones/accessories to increase average order value.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Target high-value customers and promote profitable products through focused campaigns and cross-selling strategies.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Use customer feedback to improve product quality, delivery experience, and customer support.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Reallocate marketing efforts toward high-performing products and customer segments.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Maintain adequate inventory for high-demand products to minimize lost sales.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Establish monthly monitoring of revenue, volume, and profit trends to detect sudden changes early.</a:t>
            </a:r>
          </a:p>
          <a:p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IN" b="1" dirty="0" smtClean="0">
                <a:solidFill>
                  <a:schemeClr val="accent1">
                    <a:lumMod val="75000"/>
                  </a:schemeClr>
                </a:solidFill>
              </a:rPr>
              <a:t>Conclusion: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The business shows strong overall profitability, with clear areas to improve product performance and customer satisfaction.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The Excel dashboard enables data-driven monitoring and supports better sales, marketing, and profitability decisions.</a:t>
            </a:r>
            <a:endParaRPr lang="en-IN" sz="1600" dirty="0" smtClean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595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72873" y="2052843"/>
            <a:ext cx="5504872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8800" b="1" dirty="0">
                <a:solidFill>
                  <a:schemeClr val="accent1">
                    <a:lumMod val="75000"/>
                  </a:schemeClr>
                </a:solidFill>
              </a:rPr>
              <a:t>Thank You</a:t>
            </a:r>
            <a:endParaRPr lang="en-IN" sz="88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5832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332</TotalTime>
  <Words>521</Words>
  <Application>Microsoft Office PowerPoint</Application>
  <PresentationFormat>Widescreen</PresentationFormat>
  <Paragraphs>56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Arial Rounded MT Bold</vt:lpstr>
      <vt:lpstr>Calibri</vt:lpstr>
      <vt:lpstr>Calibri Light</vt:lpstr>
      <vt:lpstr>Retrospect</vt:lpstr>
      <vt:lpstr>Global Electronics – Sales Performance Analysis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Electronics - Sales Analysis</dc:title>
  <dc:creator>Blesso</dc:creator>
  <cp:lastModifiedBy>Blesso</cp:lastModifiedBy>
  <cp:revision>23</cp:revision>
  <dcterms:created xsi:type="dcterms:W3CDTF">2026-10-07T02:19:43Z</dcterms:created>
  <dcterms:modified xsi:type="dcterms:W3CDTF">2026-10-07T07:52:31Z</dcterms:modified>
</cp:coreProperties>
</file>